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4" r:id="rId2"/>
    <p:sldId id="268" r:id="rId3"/>
    <p:sldId id="271" r:id="rId4"/>
    <p:sldId id="272" r:id="rId5"/>
    <p:sldId id="273" r:id="rId6"/>
    <p:sldId id="274" r:id="rId7"/>
    <p:sldId id="275" r:id="rId8"/>
    <p:sldId id="270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A44"/>
    <a:srgbClr val="E1AB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695" autoAdjust="0"/>
    <p:restoredTop sz="94717"/>
  </p:normalViewPr>
  <p:slideViewPr>
    <p:cSldViewPr snapToGrid="0" snapToObjects="1">
      <p:cViewPr varScale="1">
        <p:scale>
          <a:sx n="105" d="100"/>
          <a:sy n="105" d="100"/>
        </p:scale>
        <p:origin x="157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BCB904-B8B2-4418-9E27-2828CD1F24D2}" type="datetimeFigureOut">
              <a:rPr lang="es-ES" smtClean="0"/>
              <a:t>09/10/2026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35E587-6A2E-4254-B355-BF1A197AC9C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97703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13" Type="http://schemas.openxmlformats.org/officeDocument/2006/relationships/image" Target="../media/image17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12" Type="http://schemas.openxmlformats.org/officeDocument/2006/relationships/image" Target="../media/image16.emf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Relationship Id="rId14" Type="http://schemas.openxmlformats.org/officeDocument/2006/relationships/image" Target="../media/image18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9.emf"/><Relationship Id="rId2" Type="http://schemas.openxmlformats.org/officeDocument/2006/relationships/image" Target="../media/image6.tif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tiff"/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415FD22B-7591-469F-AEAC-9EDE53A8DE98">
            <a:extLst>
              <a:ext uri="{FF2B5EF4-FFF2-40B4-BE49-F238E27FC236}">
                <a16:creationId xmlns:a16="http://schemas.microsoft.com/office/drawing/2014/main" id="{5A8F951E-C642-4947-B101-B6D8DC06A75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" y="0"/>
            <a:ext cx="12192001" cy="689670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FBFB0E9-E377-0344-B686-469EF5D512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4034" y="3539346"/>
            <a:ext cx="6090669" cy="1092622"/>
          </a:xfrm>
        </p:spPr>
        <p:txBody>
          <a:bodyPr anchor="b">
            <a:noAutofit/>
          </a:bodyPr>
          <a:lstStyle>
            <a:lvl1pPr algn="ctr">
              <a:defRPr sz="3200">
                <a:solidFill>
                  <a:schemeClr val="bg1"/>
                </a:solidFill>
                <a:latin typeface="GT America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E52EF-A1A3-3A47-B1FA-85C8C0F0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8197DBA-B4EB-4099-8DCC-338C5A4574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41617"/>
          <a:stretch/>
        </p:blipFill>
        <p:spPr>
          <a:xfrm>
            <a:off x="1424219" y="1336646"/>
            <a:ext cx="2906712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01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98909D-3BCB-5D4D-92E1-47F7DCEE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75618" y="6370204"/>
            <a:ext cx="2743200" cy="365125"/>
          </a:xfrm>
        </p:spPr>
        <p:txBody>
          <a:bodyPr/>
          <a:lstStyle>
            <a:lvl1pPr>
              <a:defRPr sz="800">
                <a:latin typeface="GT America" pitchFamily="2" charset="77"/>
              </a:defRPr>
            </a:lvl1pPr>
          </a:lstStyle>
          <a:p>
            <a:fld id="{DFA3C4CA-1939-A047-9FE4-F8769865EBC3}" type="slidenum">
              <a:rPr lang="es-ES" smtClean="0"/>
              <a:pPr/>
              <a:t>‹Nº›</a:t>
            </a:fld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957E5939-C68B-4B89-B73C-D0910899DC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6F24B9B-2E30-41D6-B4FE-DECE4A8A151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32755" y="1779717"/>
            <a:ext cx="1126490" cy="20327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AFEA20F-1E8D-40CD-9373-E2CEAFD3C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175" y="3094933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521AD7D-8525-4EA5-8339-59FC0277F5C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1416" y="246642"/>
            <a:ext cx="2513330" cy="98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62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880D8263-26E6-4FD4-ADB7-073316A13A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4EE61DFA-B6F6-4D4B-9F98-00FB4B9BCC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088004" y="2353154"/>
            <a:ext cx="3797300" cy="379730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945B98B7-3D58-4E88-A984-B65DDD0E4F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665848" y="2350038"/>
            <a:ext cx="3797300" cy="379730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048299FC-7CC5-4AF4-A170-4506C67853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19732" y="2350038"/>
            <a:ext cx="3797300" cy="379730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02F5E3F-4158-41A8-B388-E7033B092D5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23436" y="2350038"/>
            <a:ext cx="3797300" cy="3797300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AA1A4E86-A123-4882-9335-A6947382CB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00620" y="2350038"/>
            <a:ext cx="3797300" cy="379730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D623B3A3-ED3C-4472-A344-C0F3B5E7E54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836545" y="2350038"/>
            <a:ext cx="3797300" cy="3797300"/>
          </a:xfrm>
          <a:prstGeom prst="rect">
            <a:avLst/>
          </a:prstGeom>
        </p:spPr>
      </p:pic>
      <p:pic>
        <p:nvPicPr>
          <p:cNvPr id="40" name="Imagen 39">
            <a:extLst>
              <a:ext uri="{FF2B5EF4-FFF2-40B4-BE49-F238E27FC236}">
                <a16:creationId xmlns:a16="http://schemas.microsoft.com/office/drawing/2014/main" id="{FB4ED80A-137C-4F82-B8A2-F523180D856F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379854" y="4688152"/>
            <a:ext cx="381000" cy="1028700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9D2F706B-E22A-47D8-8ABB-428D18F8E9A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955" y="4783402"/>
            <a:ext cx="838200" cy="838200"/>
          </a:xfrm>
          <a:prstGeom prst="rect">
            <a:avLst/>
          </a:prstGeom>
        </p:spPr>
      </p:pic>
      <p:pic>
        <p:nvPicPr>
          <p:cNvPr id="42" name="Imagen 41">
            <a:extLst>
              <a:ext uri="{FF2B5EF4-FFF2-40B4-BE49-F238E27FC236}">
                <a16:creationId xmlns:a16="http://schemas.microsoft.com/office/drawing/2014/main" id="{90460FC2-3238-4204-88A1-5FC95C7E3AA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29432" y="4967552"/>
            <a:ext cx="977900" cy="749300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0D3F672F-E928-45E2-826B-C45A7053E222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96636" y="4865952"/>
            <a:ext cx="850900" cy="850900"/>
          </a:xfrm>
          <a:prstGeom prst="rect">
            <a:avLst/>
          </a:prstGeom>
        </p:spPr>
      </p:pic>
      <p:pic>
        <p:nvPicPr>
          <p:cNvPr id="44" name="Imagen 43">
            <a:extLst>
              <a:ext uri="{FF2B5EF4-FFF2-40B4-BE49-F238E27FC236}">
                <a16:creationId xmlns:a16="http://schemas.microsoft.com/office/drawing/2014/main" id="{81640167-5546-4EC7-9BD2-435482730A99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36840" y="4973902"/>
            <a:ext cx="736600" cy="736600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47064EE3-B57B-44CF-AE8E-268AFE5B359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14024" y="5177102"/>
            <a:ext cx="520700" cy="533400"/>
          </a:xfrm>
          <a:prstGeom prst="rect">
            <a:avLst/>
          </a:prstGeom>
        </p:spPr>
      </p:pic>
      <p:sp>
        <p:nvSpPr>
          <p:cNvPr id="46" name="CuadroTexto 45">
            <a:extLst>
              <a:ext uri="{FF2B5EF4-FFF2-40B4-BE49-F238E27FC236}">
                <a16:creationId xmlns:a16="http://schemas.microsoft.com/office/drawing/2014/main" id="{178833ED-AE1D-430D-AE3D-16C905E1C738}"/>
              </a:ext>
            </a:extLst>
          </p:cNvPr>
          <p:cNvSpPr txBox="1"/>
          <p:nvPr userDrawn="1"/>
        </p:nvSpPr>
        <p:spPr>
          <a:xfrm>
            <a:off x="-2880929" y="2541359"/>
            <a:ext cx="14197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chemeClr val="bg1"/>
                </a:solidFill>
                <a:latin typeface="GT America Ultra Light" pitchFamily="2" charset="77"/>
              </a:rPr>
              <a:t>01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D92720A-7800-47DB-904F-587F6F1617AB}"/>
              </a:ext>
            </a:extLst>
          </p:cNvPr>
          <p:cNvSpPr txBox="1"/>
          <p:nvPr userDrawn="1"/>
        </p:nvSpPr>
        <p:spPr>
          <a:xfrm>
            <a:off x="463850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rgbClr val="E1AB34"/>
                </a:solidFill>
                <a:latin typeface="GT America Ultra Light" pitchFamily="2" charset="77"/>
              </a:rPr>
              <a:t>02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044706DF-5A01-485F-B345-6D4FC838B316}"/>
              </a:ext>
            </a:extLst>
          </p:cNvPr>
          <p:cNvSpPr txBox="1"/>
          <p:nvPr userDrawn="1"/>
        </p:nvSpPr>
        <p:spPr>
          <a:xfrm>
            <a:off x="3813644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rgbClr val="011A44"/>
                </a:solidFill>
                <a:latin typeface="GT America Ultra Light" pitchFamily="2" charset="77"/>
              </a:rPr>
              <a:t>03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AE22351-B1D1-47E3-8897-F2F54BC56A68}"/>
              </a:ext>
            </a:extLst>
          </p:cNvPr>
          <p:cNvSpPr txBox="1"/>
          <p:nvPr userDrawn="1"/>
        </p:nvSpPr>
        <p:spPr>
          <a:xfrm>
            <a:off x="7302802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chemeClr val="bg1"/>
                </a:solidFill>
                <a:latin typeface="GT America Ultra Light" pitchFamily="2" charset="77"/>
              </a:rPr>
              <a:t>04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3411803E-C536-42BA-A1F2-0EB177C52CDA}"/>
              </a:ext>
            </a:extLst>
          </p:cNvPr>
          <p:cNvSpPr txBox="1"/>
          <p:nvPr userDrawn="1"/>
        </p:nvSpPr>
        <p:spPr>
          <a:xfrm>
            <a:off x="10714755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chemeClr val="bg1"/>
                </a:solidFill>
                <a:latin typeface="GT America Ultra Light" pitchFamily="2" charset="77"/>
              </a:rPr>
              <a:t>05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EA2F5C3-A514-43A2-90C2-2509EE27D9B7}"/>
              </a:ext>
            </a:extLst>
          </p:cNvPr>
          <p:cNvSpPr txBox="1"/>
          <p:nvPr userDrawn="1"/>
        </p:nvSpPr>
        <p:spPr>
          <a:xfrm>
            <a:off x="13872044" y="2541359"/>
            <a:ext cx="20612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9000" dirty="0">
                <a:solidFill>
                  <a:srgbClr val="011A44"/>
                </a:solidFill>
                <a:latin typeface="GT America Ultra Light" pitchFamily="2" charset="77"/>
              </a:rPr>
              <a:t>06</a:t>
            </a: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F5C9178B-2AAB-4FE9-912F-9473ED47C302}"/>
              </a:ext>
            </a:extLst>
          </p:cNvPr>
          <p:cNvSpPr txBox="1"/>
          <p:nvPr userDrawn="1"/>
        </p:nvSpPr>
        <p:spPr>
          <a:xfrm>
            <a:off x="-3682553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chemeClr val="bg1"/>
                </a:solidFill>
                <a:latin typeface="GT America Medium" pitchFamily="2" charset="77"/>
              </a:rPr>
              <a:t>Seguimiento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531B5C7-299E-4F9B-9F86-45C5977F2EA1}"/>
              </a:ext>
            </a:extLst>
          </p:cNvPr>
          <p:cNvSpPr txBox="1"/>
          <p:nvPr userDrawn="1"/>
        </p:nvSpPr>
        <p:spPr>
          <a:xfrm>
            <a:off x="-241522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E1AB34"/>
                </a:solidFill>
                <a:latin typeface="GT America Medium" pitchFamily="2" charset="77"/>
              </a:rPr>
              <a:t>Posicionamiento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3039BA55-CFE4-420C-AFCC-E47A631CB50B}"/>
              </a:ext>
            </a:extLst>
          </p:cNvPr>
          <p:cNvSpPr txBox="1"/>
          <p:nvPr userDrawn="1"/>
        </p:nvSpPr>
        <p:spPr>
          <a:xfrm>
            <a:off x="3151382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011A44"/>
                </a:solidFill>
                <a:latin typeface="GT America Medium" pitchFamily="2" charset="77"/>
              </a:rPr>
              <a:t>Oferta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7E7F8919-9000-414A-A3F9-42055EB426A2}"/>
              </a:ext>
            </a:extLst>
          </p:cNvPr>
          <p:cNvSpPr txBox="1"/>
          <p:nvPr userDrawn="1"/>
        </p:nvSpPr>
        <p:spPr>
          <a:xfrm>
            <a:off x="6688563" y="4018687"/>
            <a:ext cx="292045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E1AB34"/>
                </a:solidFill>
                <a:latin typeface="GT America Medium" pitchFamily="2" charset="77"/>
              </a:rPr>
              <a:t>Cronograma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562FB3AD-076F-489B-A002-D53FED852A10}"/>
              </a:ext>
            </a:extLst>
          </p:cNvPr>
          <p:cNvSpPr txBox="1"/>
          <p:nvPr userDrawn="1"/>
        </p:nvSpPr>
        <p:spPr>
          <a:xfrm>
            <a:off x="10129594" y="4018687"/>
            <a:ext cx="2920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chemeClr val="bg1"/>
                </a:solidFill>
                <a:latin typeface="GT America Medium" pitchFamily="2" charset="77"/>
              </a:rPr>
              <a:t>Presupuesto </a:t>
            </a:r>
          </a:p>
          <a:p>
            <a:pPr algn="ctr"/>
            <a:r>
              <a:rPr lang="es-ES" sz="2700" dirty="0">
                <a:solidFill>
                  <a:schemeClr val="bg1"/>
                </a:solidFill>
                <a:latin typeface="GT America Medium" pitchFamily="2" charset="77"/>
              </a:rPr>
              <a:t>2020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04347B7-8B5E-4B10-A5B5-4F18C2A664B8}"/>
              </a:ext>
            </a:extLst>
          </p:cNvPr>
          <p:cNvSpPr txBox="1"/>
          <p:nvPr userDrawn="1"/>
        </p:nvSpPr>
        <p:spPr>
          <a:xfrm>
            <a:off x="13378120" y="4018687"/>
            <a:ext cx="29204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700" dirty="0">
                <a:solidFill>
                  <a:srgbClr val="011A44"/>
                </a:solidFill>
                <a:latin typeface="GT America Medium" pitchFamily="2" charset="77"/>
              </a:rPr>
              <a:t>Plan de </a:t>
            </a:r>
          </a:p>
          <a:p>
            <a:pPr algn="ctr"/>
            <a:r>
              <a:rPr lang="es-ES" sz="2700" dirty="0">
                <a:solidFill>
                  <a:srgbClr val="011A44"/>
                </a:solidFill>
                <a:latin typeface="GT America Medium" pitchFamily="2" charset="77"/>
              </a:rPr>
              <a:t>crecimiento</a:t>
            </a:r>
          </a:p>
        </p:txBody>
      </p:sp>
    </p:spTree>
    <p:extLst>
      <p:ext uri="{BB962C8B-B14F-4D97-AF65-F5344CB8AC3E}">
        <p14:creationId xmlns:p14="http://schemas.microsoft.com/office/powerpoint/2010/main" val="482041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 userDrawn="1"/>
        </p:nvSpPr>
        <p:spPr>
          <a:xfrm>
            <a:off x="0" y="9950"/>
            <a:ext cx="12192000" cy="745307"/>
          </a:xfrm>
          <a:prstGeom prst="rect">
            <a:avLst/>
          </a:prstGeom>
          <a:solidFill>
            <a:srgbClr val="011A44"/>
          </a:solidFill>
          <a:ln>
            <a:solidFill>
              <a:srgbClr val="011A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11A44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80D8263-26E6-4FD4-ADB7-073316A13A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55257"/>
            <a:ext cx="12192000" cy="6102744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4EE61DFA-B6F6-4D4B-9F98-00FB4B9BCC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050" y="3222566"/>
            <a:ext cx="3164151" cy="316415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945B98B7-3D58-4E88-A984-B65DDD0E4F3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0275" y="3219450"/>
            <a:ext cx="3164151" cy="3164151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048299FC-7CC5-4AF4-A170-4506C678533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1955" y="3219450"/>
            <a:ext cx="3164151" cy="3164151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C02F5E3F-4158-41A8-B388-E7033B092D5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822180" y="3222566"/>
            <a:ext cx="3164151" cy="316415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D9A00E4-15AC-4E29-98D5-75C0DD4EE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4766" y="9950"/>
            <a:ext cx="5961529" cy="716280"/>
          </a:xfrm>
        </p:spPr>
        <p:txBody>
          <a:bodyPr>
            <a:normAutofit/>
          </a:bodyPr>
          <a:lstStyle>
            <a:lvl1pPr>
              <a:defRPr sz="1600" b="1"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56E621-99D3-4271-B65E-0B4B03EB63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63988" y="4208462"/>
            <a:ext cx="1772298" cy="11398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  <a:latin typeface="GT America"/>
              </a:defRPr>
            </a:lvl1pPr>
            <a:lvl2pPr>
              <a:defRPr sz="1200">
                <a:solidFill>
                  <a:schemeClr val="bg1"/>
                </a:solidFill>
                <a:latin typeface="GT America"/>
              </a:defRPr>
            </a:lvl2pPr>
            <a:lvl3pPr>
              <a:defRPr sz="1200">
                <a:solidFill>
                  <a:schemeClr val="bg1"/>
                </a:solidFill>
                <a:latin typeface="GT America"/>
              </a:defRPr>
            </a:lvl3pPr>
            <a:lvl4pPr>
              <a:defRPr sz="1200">
                <a:solidFill>
                  <a:schemeClr val="bg1"/>
                </a:solidFill>
                <a:latin typeface="GT America"/>
              </a:defRPr>
            </a:lvl4pPr>
            <a:lvl5pPr>
              <a:defRPr sz="1200">
                <a:solidFill>
                  <a:schemeClr val="bg1"/>
                </a:solidFill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6261AEA6-DE67-47F6-9FA4-B77EE2F68B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97956" y="4084637"/>
            <a:ext cx="1884363" cy="1306512"/>
          </a:xfrm>
        </p:spPr>
        <p:txBody>
          <a:bodyPr>
            <a:normAutofit/>
          </a:bodyPr>
          <a:lstStyle>
            <a:lvl1pPr>
              <a:defRPr sz="1400" b="0">
                <a:latin typeface="GT America"/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0B585C41-3B60-42C4-BC51-6CD6E013B9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19499" y="4024344"/>
            <a:ext cx="1978467" cy="1366805"/>
          </a:xfrm>
        </p:spPr>
        <p:txBody>
          <a:bodyPr>
            <a:normAutofit/>
          </a:bodyPr>
          <a:lstStyle>
            <a:lvl1pPr>
              <a:defRPr sz="1200">
                <a:latin typeface="GT America"/>
              </a:defRPr>
            </a:lvl1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sp>
        <p:nvSpPr>
          <p:cNvPr id="11" name="Marcador de texto 10">
            <a:extLst>
              <a:ext uri="{FF2B5EF4-FFF2-40B4-BE49-F238E27FC236}">
                <a16:creationId xmlns:a16="http://schemas.microsoft.com/office/drawing/2014/main" id="{DF7AF264-FC72-4BFC-AEC0-17B384F4D12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67708" y="4024314"/>
            <a:ext cx="2273094" cy="1366836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  <a:latin typeface="GT America"/>
              </a:defRPr>
            </a:lvl1pPr>
            <a:lvl2pPr>
              <a:defRPr sz="1200">
                <a:solidFill>
                  <a:schemeClr val="bg1"/>
                </a:solidFill>
                <a:latin typeface="GT America"/>
              </a:defRPr>
            </a:lvl2pPr>
            <a:lvl3pPr>
              <a:defRPr sz="1200">
                <a:solidFill>
                  <a:schemeClr val="bg1"/>
                </a:solidFill>
                <a:latin typeface="GT America"/>
              </a:defRPr>
            </a:lvl3pPr>
            <a:lvl4pPr>
              <a:defRPr sz="1200">
                <a:solidFill>
                  <a:schemeClr val="bg1"/>
                </a:solidFill>
                <a:latin typeface="GT America"/>
              </a:defRPr>
            </a:lvl4pPr>
            <a:lvl5pPr>
              <a:defRPr sz="1200">
                <a:solidFill>
                  <a:schemeClr val="bg1"/>
                </a:solidFill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</p:txBody>
      </p:sp>
      <p:pic>
        <p:nvPicPr>
          <p:cNvPr id="60" name="Imagen 59">
            <a:extLst>
              <a:ext uri="{FF2B5EF4-FFF2-40B4-BE49-F238E27FC236}">
                <a16:creationId xmlns:a16="http://schemas.microsoft.com/office/drawing/2014/main" id="{66763DDA-96CF-4DC1-BA51-3B2745457C9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78" y="120499"/>
            <a:ext cx="1190689" cy="461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90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 userDrawn="1"/>
        </p:nvSpPr>
        <p:spPr>
          <a:xfrm>
            <a:off x="0" y="9950"/>
            <a:ext cx="12192000" cy="745307"/>
          </a:xfrm>
          <a:prstGeom prst="rect">
            <a:avLst/>
          </a:prstGeom>
          <a:solidFill>
            <a:srgbClr val="011A44"/>
          </a:solidFill>
          <a:ln>
            <a:solidFill>
              <a:srgbClr val="011A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11A44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C29787F-3C68-3D4C-9803-CA219DC4DB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78" y="120499"/>
            <a:ext cx="1190689" cy="46139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6D70D0-D144-45BA-871F-544CAE09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0" y="0"/>
            <a:ext cx="5941495" cy="755257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7DFA80B-BC9F-4B8B-A272-44CB3615DF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55257"/>
            <a:ext cx="12192000" cy="6102743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DCFFBDA-E685-4795-A601-EF8FA0CFF2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90500" y="1060725"/>
            <a:ext cx="11569700" cy="4489843"/>
          </a:xfrm>
        </p:spPr>
        <p:txBody>
          <a:bodyPr>
            <a:normAutofit/>
          </a:bodyPr>
          <a:lstStyle>
            <a:lvl1pPr>
              <a:defRPr sz="1600">
                <a:latin typeface="GT America"/>
              </a:defRPr>
            </a:lvl1pPr>
            <a:lvl2pPr>
              <a:defRPr sz="1600">
                <a:latin typeface="GT America"/>
              </a:defRPr>
            </a:lvl2pPr>
            <a:lvl3pPr>
              <a:defRPr sz="1600">
                <a:latin typeface="GT America"/>
              </a:defRPr>
            </a:lvl3pPr>
            <a:lvl4pPr>
              <a:defRPr sz="1600">
                <a:latin typeface="GT America"/>
              </a:defRPr>
            </a:lvl4pPr>
            <a:lvl5pPr>
              <a:defRPr sz="1600"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280943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/>
          <p:nvPr userDrawn="1"/>
        </p:nvSpPr>
        <p:spPr>
          <a:xfrm>
            <a:off x="0" y="9950"/>
            <a:ext cx="12192000" cy="745307"/>
          </a:xfrm>
          <a:prstGeom prst="rect">
            <a:avLst/>
          </a:prstGeom>
          <a:solidFill>
            <a:srgbClr val="011A44"/>
          </a:solidFill>
          <a:ln>
            <a:solidFill>
              <a:srgbClr val="011A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011A44"/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C29787F-3C68-3D4C-9803-CA219DC4DB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178" y="120499"/>
            <a:ext cx="1190689" cy="46139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B6D70D0-D144-45BA-871F-544CAE09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4800" y="0"/>
            <a:ext cx="5941495" cy="755257"/>
          </a:xfrm>
        </p:spPr>
        <p:txBody>
          <a:bodyPr>
            <a:noAutofit/>
          </a:bodyPr>
          <a:lstStyle>
            <a:lvl1pPr>
              <a:defRPr sz="1600" b="1">
                <a:solidFill>
                  <a:schemeClr val="bg1"/>
                </a:solidFill>
                <a:latin typeface="GT America Black"/>
              </a:defRPr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8CB4E9-91E4-49E4-ADF4-CC4F78BB0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7500" y="1346200"/>
            <a:ext cx="11455400" cy="4762500"/>
          </a:xfrm>
        </p:spPr>
        <p:txBody>
          <a:bodyPr>
            <a:normAutofit/>
          </a:bodyPr>
          <a:lstStyle>
            <a:lvl1pPr>
              <a:defRPr sz="1600">
                <a:latin typeface="GT America"/>
              </a:defRPr>
            </a:lvl1pPr>
            <a:lvl2pPr>
              <a:defRPr sz="1600">
                <a:latin typeface="GT America"/>
              </a:defRPr>
            </a:lvl2pPr>
            <a:lvl3pPr>
              <a:defRPr sz="1600">
                <a:latin typeface="GT America"/>
              </a:defRPr>
            </a:lvl3pPr>
            <a:lvl4pPr>
              <a:defRPr sz="1600">
                <a:latin typeface="GT America"/>
              </a:defRPr>
            </a:lvl4pPr>
            <a:lvl5pPr>
              <a:defRPr sz="1600">
                <a:latin typeface="GT America"/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555577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415FD22B-7591-469F-AEAC-9EDE53A8DE98">
            <a:extLst>
              <a:ext uri="{FF2B5EF4-FFF2-40B4-BE49-F238E27FC236}">
                <a16:creationId xmlns:a16="http://schemas.microsoft.com/office/drawing/2014/main" id="{5A8F951E-C642-4947-B101-B6D8DC06A75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" y="-19355"/>
            <a:ext cx="12192001" cy="6896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BE52EF-A1A3-3A47-B1FA-85C8C0F04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32003" y="6321813"/>
            <a:ext cx="4114800" cy="365125"/>
          </a:xfrm>
        </p:spPr>
        <p:txBody>
          <a:bodyPr/>
          <a:lstStyle/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47CF98B-A29D-421C-BBAC-691C75D1E9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045188" y="3327377"/>
            <a:ext cx="101623" cy="203246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3ACD7DF-8B09-4EEE-9BA7-88A2E0135C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42285"/>
          <a:stretch/>
        </p:blipFill>
        <p:spPr>
          <a:xfrm>
            <a:off x="1424219" y="1336646"/>
            <a:ext cx="2873461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96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7490299-5919-9A46-A335-7FA568590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694BA9-35AB-434E-8A69-F1F467FAF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 dirty="0"/>
              <a:t>Editar los estilos de texto del patrón
Segundo nivel
Tercer nivel
Cuarto nivel
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E0FE40-61AF-9444-A37E-B92C4C759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636EF-CF43-7D4E-A80A-E2DB0AFB10AC}" type="datetimeFigureOut">
              <a:rPr lang="es-ES" smtClean="0"/>
              <a:t>09/10/2026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80D740-00D4-054B-9019-D48F65E77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8F88A1-297B-3245-A0FC-66DC8CCB1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A3C4CA-1939-A047-9FE4-F8769865EBC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4466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2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FDE5E68-63E5-4160-B9E7-40A8DB4BBBAA}"/>
              </a:ext>
            </a:extLst>
          </p:cNvPr>
          <p:cNvSpPr txBox="1"/>
          <p:nvPr/>
        </p:nvSpPr>
        <p:spPr>
          <a:xfrm>
            <a:off x="1316736" y="3438823"/>
            <a:ext cx="8001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ca-ES" sz="2000" b="1" dirty="0" err="1">
                <a:solidFill>
                  <a:schemeClr val="bg1"/>
                </a:solidFill>
              </a:rPr>
              <a:t>Título</a:t>
            </a:r>
            <a:r>
              <a:rPr lang="ca-ES" sz="2000" b="1" dirty="0">
                <a:solidFill>
                  <a:schemeClr val="bg1"/>
                </a:solidFill>
              </a:rPr>
              <a:t>:</a:t>
            </a:r>
            <a:r>
              <a:rPr lang="ca-ES" sz="2000" dirty="0">
                <a:solidFill>
                  <a:schemeClr val="bg1"/>
                </a:solidFill>
              </a:rPr>
              <a:t> </a:t>
            </a:r>
            <a:r>
              <a:rPr lang="ca-ES" sz="2000" dirty="0" err="1">
                <a:solidFill>
                  <a:schemeClr val="bg1"/>
                </a:solidFill>
              </a:rPr>
              <a:t>Desarrollo</a:t>
            </a:r>
            <a:r>
              <a:rPr lang="ca-ES" sz="2000" dirty="0">
                <a:solidFill>
                  <a:schemeClr val="bg1"/>
                </a:solidFill>
              </a:rPr>
              <a:t> de un entorno GIS modular con </a:t>
            </a:r>
            <a:r>
              <a:rPr lang="ca-ES" sz="2000" dirty="0" err="1">
                <a:solidFill>
                  <a:schemeClr val="bg1"/>
                </a:solidFill>
              </a:rPr>
              <a:t>Deep</a:t>
            </a:r>
            <a:r>
              <a:rPr lang="ca-ES" sz="2000" dirty="0">
                <a:solidFill>
                  <a:schemeClr val="bg1"/>
                </a:solidFill>
              </a:rPr>
              <a:t> </a:t>
            </a:r>
            <a:r>
              <a:rPr lang="ca-ES" sz="2000" dirty="0" err="1">
                <a:solidFill>
                  <a:schemeClr val="bg1"/>
                </a:solidFill>
              </a:rPr>
              <a:t>Learning</a:t>
            </a:r>
            <a:r>
              <a:rPr lang="ca-ES" sz="2000" dirty="0">
                <a:solidFill>
                  <a:schemeClr val="bg1"/>
                </a:solidFill>
              </a:rPr>
              <a:t> y Web GIS</a:t>
            </a:r>
          </a:p>
          <a:p>
            <a:pPr lvl="0"/>
            <a:r>
              <a:rPr lang="ca-ES" sz="2000" b="1" dirty="0">
                <a:solidFill>
                  <a:schemeClr val="bg1"/>
                </a:solidFill>
              </a:rPr>
              <a:t>Autor:</a:t>
            </a:r>
            <a:r>
              <a:rPr lang="ca-ES" sz="2000" dirty="0">
                <a:solidFill>
                  <a:schemeClr val="bg1"/>
                </a:solidFill>
              </a:rPr>
              <a:t> Antonio López</a:t>
            </a:r>
          </a:p>
          <a:p>
            <a:pPr lvl="0"/>
            <a:r>
              <a:rPr lang="ca-ES" sz="2000" b="1" dirty="0">
                <a:solidFill>
                  <a:schemeClr val="bg1"/>
                </a:solidFill>
              </a:rPr>
              <a:t>Tutora:</a:t>
            </a:r>
            <a:r>
              <a:rPr lang="ca-ES" sz="2000" dirty="0">
                <a:solidFill>
                  <a:schemeClr val="bg1"/>
                </a:solidFill>
              </a:rPr>
              <a:t> </a:t>
            </a:r>
            <a:r>
              <a:rPr lang="ca-ES" sz="2000" dirty="0" err="1">
                <a:solidFill>
                  <a:schemeClr val="bg1"/>
                </a:solidFill>
              </a:rPr>
              <a:t>Favela</a:t>
            </a:r>
            <a:r>
              <a:rPr lang="ca-ES" sz="2000" dirty="0">
                <a:solidFill>
                  <a:schemeClr val="bg1"/>
                </a:solidFill>
              </a:rPr>
              <a:t> Natalie </a:t>
            </a:r>
            <a:r>
              <a:rPr lang="ca-ES" sz="2000" dirty="0" err="1">
                <a:solidFill>
                  <a:schemeClr val="bg1"/>
                </a:solidFill>
              </a:rPr>
              <a:t>Quintero</a:t>
            </a:r>
            <a:r>
              <a:rPr lang="ca-ES" sz="2000" dirty="0">
                <a:solidFill>
                  <a:schemeClr val="bg1"/>
                </a:solidFill>
              </a:rPr>
              <a:t> </a:t>
            </a:r>
            <a:r>
              <a:rPr lang="ca-ES" sz="2000" dirty="0" err="1">
                <a:solidFill>
                  <a:schemeClr val="bg1"/>
                </a:solidFill>
              </a:rPr>
              <a:t>Chona</a:t>
            </a:r>
            <a:endParaRPr lang="ca-ES" sz="2000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90565AC-DAA7-37A0-6AAB-50468F221369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</p:spTree>
    <p:extLst>
      <p:ext uri="{BB962C8B-B14F-4D97-AF65-F5344CB8AC3E}">
        <p14:creationId xmlns:p14="http://schemas.microsoft.com/office/powerpoint/2010/main" val="3973764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E8E53-6262-FE80-3316-8C596AF38793}"/>
              </a:ext>
            </a:extLst>
          </p:cNvPr>
          <p:cNvSpPr txBox="1">
            <a:spLocks/>
          </p:cNvSpPr>
          <p:nvPr/>
        </p:nvSpPr>
        <p:spPr>
          <a:xfrm>
            <a:off x="159010" y="1006458"/>
            <a:ext cx="6827005" cy="22488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OBJETIVO DEL PROYECTO:</a:t>
            </a:r>
          </a:p>
          <a:p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Arquitectura base proyecto Gis AI WEB.</a:t>
            </a:r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1-DESCARGA.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2-ETL.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3-DEEP LEARNING.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4-WEB GIS.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Caso de uso, detección de nubes, Sentinel 2 Cataluña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538F392-991D-5118-50C3-E340E2AD5724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9530E6A8-31F1-4D52-DE1D-59A82766C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42383"/>
            <a:ext cx="12192000" cy="235651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92C8018-D6E3-3E17-7E00-7757F6D9702B}"/>
              </a:ext>
            </a:extLst>
          </p:cNvPr>
          <p:cNvSpPr txBox="1"/>
          <p:nvPr/>
        </p:nvSpPr>
        <p:spPr>
          <a:xfrm>
            <a:off x="11736324" y="6457890"/>
            <a:ext cx="2788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24395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B0812-13AD-C14D-FCE4-8DADC51E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11947-89D3-A4B8-08E0-B6227AC87D8D}"/>
              </a:ext>
            </a:extLst>
          </p:cNvPr>
          <p:cNvSpPr txBox="1">
            <a:spLocks/>
          </p:cNvSpPr>
          <p:nvPr/>
        </p:nvSpPr>
        <p:spPr>
          <a:xfrm>
            <a:off x="0" y="857963"/>
            <a:ext cx="8472926" cy="26089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1-DESCARGA.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Trabajo con API ESA, protocolo O-Data.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Descarga i selección de bandas necesarias para el entrenamiento del modelo.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B4 = Rojo (Red).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B3 = Verde (Green).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B2 = Azul (Blue).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B8 = Infrarrojo Cercano, delimita los bordes, vegetación, agua, costas, etc..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SWIR = (B11 nieve oscura y B12 nubes brillante).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Índice NDSI = calculo B3, B11 nieve brillante.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Fichero de clasificación SCL sen2cor.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8FE6829-42B8-B09A-633B-03673F9D2C0E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E9EB7CB-3627-FD99-307A-3867E90AC3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422648" y="3447288"/>
            <a:ext cx="2999231" cy="2999231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2123081-2004-CA02-963D-51B09DC6E413}"/>
              </a:ext>
            </a:extLst>
          </p:cNvPr>
          <p:cNvSpPr txBox="1"/>
          <p:nvPr/>
        </p:nvSpPr>
        <p:spPr>
          <a:xfrm>
            <a:off x="11736324" y="6457890"/>
            <a:ext cx="2788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09521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261E4-F917-9FEE-6D3A-CF7ACD89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89927-4C52-4E18-A1C9-043D612486C1}"/>
              </a:ext>
            </a:extLst>
          </p:cNvPr>
          <p:cNvSpPr txBox="1">
            <a:spLocks/>
          </p:cNvSpPr>
          <p:nvPr/>
        </p:nvSpPr>
        <p:spPr>
          <a:xfrm>
            <a:off x="88771" y="801033"/>
            <a:ext cx="11724763" cy="164032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2-ETL.                                                                                2025-01-01_T31TDG_SCL_GIMP.tif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Colapso de clase.                                                            Capa con el fichero SCL que editaremos.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Clasificación manual de la verdad del terreno.        Capa con el falso color nieve, b11, 8, 4 (SWIR., NIR, Rojo).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Preparación de datos para entrenamiento.              Capa con el RGB.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Aprendizaje supervisado.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192BCE2-540C-64DF-5584-E723BF89A03D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BFE159E-80A0-9D08-62A8-94659F6DE5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942033" y="2584020"/>
            <a:ext cx="6871501" cy="3861849"/>
          </a:xfrm>
          <a:prstGeom prst="rect">
            <a:avLst/>
          </a:prstGeom>
        </p:spPr>
      </p:pic>
      <p:pic>
        <p:nvPicPr>
          <p:cNvPr id="4" name="Imagen 7">
            <a:extLst>
              <a:ext uri="{FF2B5EF4-FFF2-40B4-BE49-F238E27FC236}">
                <a16:creationId xmlns:a16="http://schemas.microsoft.com/office/drawing/2014/main" id="{9FB50AB3-E427-A803-6DD3-61114A1218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59010" y="2584020"/>
            <a:ext cx="4556382" cy="3807636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B7AB7F8-661B-D5A9-9807-6B981FD579D3}"/>
              </a:ext>
            </a:extLst>
          </p:cNvPr>
          <p:cNvSpPr txBox="1"/>
          <p:nvPr/>
        </p:nvSpPr>
        <p:spPr>
          <a:xfrm>
            <a:off x="11736324" y="6457890"/>
            <a:ext cx="2788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37739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8421B-F145-01D6-A7A4-E352F98E4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CCD32-C294-54BA-6845-BAEFF9843567}"/>
              </a:ext>
            </a:extLst>
          </p:cNvPr>
          <p:cNvSpPr txBox="1">
            <a:spLocks/>
          </p:cNvSpPr>
          <p:nvPr/>
        </p:nvSpPr>
        <p:spPr>
          <a:xfrm>
            <a:off x="90183" y="790416"/>
            <a:ext cx="10233687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endParaRPr lang="es-ES" sz="2000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3-DEEP LEARNING.</a:t>
            </a:r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Red neuronal convolucional de Deep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learning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 U-Net desde cero.</a:t>
            </a:r>
            <a:br>
              <a:rPr lang="es-ES" sz="20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Entrenamiento, test, validación-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IoU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 (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Intersection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over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 Union).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Aprendizaje supervisado. Skip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Connections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06AA289-6CEA-D647-0F9F-10A6231FB08E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97D97D9-E137-518C-6AE3-B7B314F4B0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9010" y="2165659"/>
            <a:ext cx="5335038" cy="429223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7FFA5A6-767C-009E-66D8-539B11F2C1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94048" y="1828800"/>
            <a:ext cx="6286502" cy="502920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05D68D6-6009-F8FA-8B60-F5F3D657D8E4}"/>
              </a:ext>
            </a:extLst>
          </p:cNvPr>
          <p:cNvSpPr txBox="1"/>
          <p:nvPr/>
        </p:nvSpPr>
        <p:spPr>
          <a:xfrm>
            <a:off x="11736324" y="6457890"/>
            <a:ext cx="2788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02128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523EC-84E4-6C91-C54C-C3512A3C3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734B-AE0D-F2AF-859F-CF60E18CB922}"/>
              </a:ext>
            </a:extLst>
          </p:cNvPr>
          <p:cNvSpPr txBox="1">
            <a:spLocks/>
          </p:cNvSpPr>
          <p:nvPr/>
        </p:nvSpPr>
        <p:spPr>
          <a:xfrm>
            <a:off x="241307" y="939056"/>
            <a:ext cx="4394702" cy="8608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4-WEB GIS.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Docker,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svelte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Maplibre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,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pmTiles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RGB,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mask</a:t>
            </a:r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" sz="2000" dirty="0" err="1">
                <a:solidFill>
                  <a:schemeClr val="accent1">
                    <a:lumMod val="75000"/>
                  </a:schemeClr>
                </a:solidFill>
              </a:rPr>
              <a:t>cloud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240028-596B-18CC-589D-3F233DA126D8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AB68FD3-44BF-957A-C9CC-E008CC47E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8172" y="1954065"/>
            <a:ext cx="9011963" cy="467339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0366B77-AFAF-E4C8-82CE-29A40283A817}"/>
              </a:ext>
            </a:extLst>
          </p:cNvPr>
          <p:cNvSpPr txBox="1"/>
          <p:nvPr/>
        </p:nvSpPr>
        <p:spPr>
          <a:xfrm>
            <a:off x="11736324" y="6457890"/>
            <a:ext cx="2788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08603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EC8BC-8DB6-5A20-C0BF-68C6004DD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C7310-4AEE-B718-3D2B-7D84524B82A1}"/>
              </a:ext>
            </a:extLst>
          </p:cNvPr>
          <p:cNvSpPr txBox="1">
            <a:spLocks/>
          </p:cNvSpPr>
          <p:nvPr/>
        </p:nvSpPr>
        <p:spPr>
          <a:xfrm>
            <a:off x="1523494" y="2162780"/>
            <a:ext cx="1650874" cy="573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GITHUB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E87F60-00D3-4E9E-5801-1C263C2DE2E3}"/>
              </a:ext>
            </a:extLst>
          </p:cNvPr>
          <p:cNvSpPr txBox="1">
            <a:spLocks/>
          </p:cNvSpPr>
          <p:nvPr/>
        </p:nvSpPr>
        <p:spPr>
          <a:xfrm>
            <a:off x="4471930" y="153018"/>
            <a:ext cx="2404357" cy="5053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800" dirty="0"/>
              <a:t>DEFENSA TBF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D4E85C6-B0BE-8819-7AAD-1B46F7E09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88171" y="2160278"/>
            <a:ext cx="11171227" cy="317067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2F4434F-BF09-A063-7D85-01B6A119BE8A}"/>
              </a:ext>
            </a:extLst>
          </p:cNvPr>
          <p:cNvSpPr txBox="1">
            <a:spLocks/>
          </p:cNvSpPr>
          <p:nvPr/>
        </p:nvSpPr>
        <p:spPr>
          <a:xfrm>
            <a:off x="5279639" y="2144284"/>
            <a:ext cx="1834748" cy="573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APP WEB GIS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24E5BA-332B-3D68-9CCA-E81B0B0E89DF}"/>
              </a:ext>
            </a:extLst>
          </p:cNvPr>
          <p:cNvSpPr txBox="1">
            <a:spLocks/>
          </p:cNvSpPr>
          <p:nvPr/>
        </p:nvSpPr>
        <p:spPr>
          <a:xfrm>
            <a:off x="9434075" y="2155930"/>
            <a:ext cx="1841557" cy="5739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bg1"/>
                </a:solidFill>
                <a:latin typeface="GT America Black"/>
                <a:ea typeface="+mj-ea"/>
                <a:cs typeface="+mj-cs"/>
              </a:defRPr>
            </a:lvl1pPr>
          </a:lstStyle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WEB TFB</a:t>
            </a:r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B01AE2C-9CA2-9356-D297-702B3D79D687}"/>
              </a:ext>
            </a:extLst>
          </p:cNvPr>
          <p:cNvSpPr txBox="1"/>
          <p:nvPr/>
        </p:nvSpPr>
        <p:spPr>
          <a:xfrm>
            <a:off x="11736324" y="6457890"/>
            <a:ext cx="2788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1862848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3CDE4-318F-DC14-ACD9-5E4DE2FF0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D1917BD-D513-CEF6-5907-893F9E6D215F}"/>
              </a:ext>
            </a:extLst>
          </p:cNvPr>
          <p:cNvSpPr txBox="1"/>
          <p:nvPr/>
        </p:nvSpPr>
        <p:spPr>
          <a:xfrm>
            <a:off x="2830068" y="1514111"/>
            <a:ext cx="634136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600" b="1" dirty="0" err="1"/>
              <a:t>Discusión</a:t>
            </a:r>
            <a:r>
              <a:rPr lang="ca-ES" sz="1600" b="1" dirty="0"/>
              <a:t> Crítica (</a:t>
            </a:r>
            <a:r>
              <a:rPr lang="ca-ES" sz="1600" b="1" dirty="0" err="1"/>
              <a:t>Limitaciones</a:t>
            </a:r>
            <a:r>
              <a:rPr lang="ca-ES" sz="1600" b="1" dirty="0"/>
              <a:t>):</a:t>
            </a:r>
          </a:p>
          <a:p>
            <a:r>
              <a:rPr lang="ca-ES" sz="1600" dirty="0"/>
              <a:t>Falta del Modelo Digital de </a:t>
            </a:r>
            <a:r>
              <a:rPr lang="ca-ES" sz="1600" dirty="0" err="1"/>
              <a:t>Elevación</a:t>
            </a:r>
            <a:r>
              <a:rPr lang="ca-ES" sz="1600" dirty="0"/>
              <a:t> (DEM): causa </a:t>
            </a:r>
            <a:r>
              <a:rPr lang="ca-ES" sz="1600" dirty="0" err="1"/>
              <a:t>confusión</a:t>
            </a:r>
            <a:r>
              <a:rPr lang="ca-ES" sz="1600" dirty="0"/>
              <a:t> en </a:t>
            </a:r>
            <a:r>
              <a:rPr lang="ca-ES" sz="1600" dirty="0" err="1"/>
              <a:t>sombras</a:t>
            </a:r>
            <a:r>
              <a:rPr lang="ca-ES" sz="1600" dirty="0"/>
              <a:t> </a:t>
            </a:r>
            <a:r>
              <a:rPr lang="ca-ES" sz="1600" dirty="0" err="1"/>
              <a:t>topográficas</a:t>
            </a:r>
            <a:r>
              <a:rPr lang="ca-ES" sz="1600" dirty="0"/>
              <a:t>.</a:t>
            </a:r>
          </a:p>
          <a:p>
            <a:r>
              <a:rPr lang="ca-ES" sz="1600" dirty="0" err="1"/>
              <a:t>Cuello</a:t>
            </a:r>
            <a:r>
              <a:rPr lang="ca-ES" sz="1600" dirty="0"/>
              <a:t> de botella manual: crear la </a:t>
            </a:r>
            <a:r>
              <a:rPr lang="ca-ES" sz="1600" dirty="0" err="1"/>
              <a:t>Verdad</a:t>
            </a:r>
            <a:r>
              <a:rPr lang="ca-ES" sz="1600" dirty="0"/>
              <a:t> </a:t>
            </a:r>
            <a:r>
              <a:rPr lang="ca-ES" sz="1600" dirty="0" err="1"/>
              <a:t>Terreno</a:t>
            </a:r>
            <a:r>
              <a:rPr lang="ca-ES" sz="1600" dirty="0"/>
              <a:t> a mano no es escalable.</a:t>
            </a:r>
          </a:p>
          <a:p>
            <a:r>
              <a:rPr lang="ca-ES" sz="1600" dirty="0"/>
              <a:t>Mascara solo de nubes no de nubes y mar.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1F2F24-2590-655A-CE38-0CA0B5127C87}"/>
              </a:ext>
            </a:extLst>
          </p:cNvPr>
          <p:cNvSpPr txBox="1"/>
          <p:nvPr/>
        </p:nvSpPr>
        <p:spPr>
          <a:xfrm>
            <a:off x="2830068" y="2935861"/>
            <a:ext cx="609904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600" b="1" dirty="0" err="1"/>
              <a:t>Futuras</a:t>
            </a:r>
            <a:r>
              <a:rPr lang="ca-ES" sz="1600" b="1" dirty="0"/>
              <a:t> Líneas de </a:t>
            </a:r>
            <a:r>
              <a:rPr lang="ca-ES" sz="1600" b="1" dirty="0" err="1"/>
              <a:t>Investigación</a:t>
            </a:r>
            <a:r>
              <a:rPr lang="ca-ES" sz="1600" b="1" dirty="0"/>
              <a:t>:</a:t>
            </a:r>
          </a:p>
          <a:p>
            <a:r>
              <a:rPr lang="ca-ES" sz="1600" dirty="0" err="1"/>
              <a:t>Inyección</a:t>
            </a:r>
            <a:r>
              <a:rPr lang="ca-ES" sz="1600" dirty="0"/>
              <a:t> de </a:t>
            </a:r>
            <a:r>
              <a:rPr lang="ca-ES" sz="1600" dirty="0" err="1"/>
              <a:t>altimetría</a:t>
            </a:r>
            <a:r>
              <a:rPr lang="ca-ES" sz="1600" dirty="0"/>
              <a:t> (DEM de Cataluña).</a:t>
            </a:r>
          </a:p>
          <a:p>
            <a:r>
              <a:rPr lang="ca-ES" sz="1600" dirty="0"/>
              <a:t>Servidor </a:t>
            </a:r>
            <a:r>
              <a:rPr lang="ca-ES" sz="1600" dirty="0" err="1"/>
              <a:t>reescrito</a:t>
            </a:r>
            <a:r>
              <a:rPr lang="ca-ES" sz="1600" dirty="0"/>
              <a:t> en </a:t>
            </a:r>
            <a:r>
              <a:rPr lang="ca-ES" sz="1600" dirty="0" err="1"/>
              <a:t>Rust</a:t>
            </a:r>
            <a:r>
              <a:rPr lang="ca-ES" sz="1600" dirty="0"/>
              <a:t> para </a:t>
            </a:r>
            <a:r>
              <a:rPr lang="ca-ES" sz="1600" dirty="0" err="1"/>
              <a:t>procesamiento</a:t>
            </a:r>
            <a:r>
              <a:rPr lang="ca-ES" sz="1600" dirty="0"/>
              <a:t> </a:t>
            </a:r>
            <a:r>
              <a:rPr lang="ca-ES" sz="1600" dirty="0" err="1"/>
              <a:t>rápido</a:t>
            </a:r>
            <a:r>
              <a:rPr lang="ca-ES" sz="1600" dirty="0"/>
              <a:t> y </a:t>
            </a:r>
            <a:r>
              <a:rPr lang="ca-ES" sz="1600" dirty="0" err="1"/>
              <a:t>bajo</a:t>
            </a:r>
            <a:r>
              <a:rPr lang="ca-ES" sz="1600" dirty="0"/>
              <a:t> demanda.</a:t>
            </a:r>
          </a:p>
          <a:p>
            <a:r>
              <a:rPr lang="ca-ES" sz="1600" dirty="0"/>
              <a:t>IA Multimodal (</a:t>
            </a:r>
            <a:r>
              <a:rPr lang="ca-ES" sz="1600" dirty="0" err="1"/>
              <a:t>PaliGemma</a:t>
            </a:r>
            <a:r>
              <a:rPr lang="ca-ES" sz="1600" dirty="0"/>
              <a:t>) para corregir </a:t>
            </a:r>
            <a:r>
              <a:rPr lang="ca-ES" sz="1600" dirty="0" err="1"/>
              <a:t>píxeles</a:t>
            </a:r>
            <a:r>
              <a:rPr lang="ca-ES" sz="1600" dirty="0"/>
              <a:t> de forma </a:t>
            </a:r>
            <a:r>
              <a:rPr lang="ca-ES" sz="1600" dirty="0" err="1"/>
              <a:t>automática</a:t>
            </a:r>
            <a:r>
              <a:rPr lang="ca-ES" sz="1600" dirty="0"/>
              <a:t>.</a:t>
            </a:r>
          </a:p>
          <a:p>
            <a:r>
              <a:rPr lang="ca-ES" sz="1600" dirty="0"/>
              <a:t>Usar </a:t>
            </a:r>
            <a:r>
              <a:rPr lang="ca-ES" sz="1600" dirty="0" err="1"/>
              <a:t>modelos</a:t>
            </a:r>
            <a:r>
              <a:rPr lang="ca-ES" sz="1600" dirty="0"/>
              <a:t> </a:t>
            </a:r>
            <a:r>
              <a:rPr lang="ca-ES" sz="1600" dirty="0" err="1"/>
              <a:t>preentrenados</a:t>
            </a:r>
            <a:r>
              <a:rPr lang="ca-ES" sz="1600" dirty="0"/>
              <a:t> como CloudSen12.</a:t>
            </a:r>
          </a:p>
          <a:p>
            <a:endParaRPr lang="ca-ES" sz="160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23F9D35-CE31-CD37-3315-8113D523C315}"/>
              </a:ext>
            </a:extLst>
          </p:cNvPr>
          <p:cNvSpPr txBox="1"/>
          <p:nvPr/>
        </p:nvSpPr>
        <p:spPr>
          <a:xfrm>
            <a:off x="2830068" y="4303031"/>
            <a:ext cx="60990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600" b="1" dirty="0" err="1"/>
              <a:t>Viabilidad</a:t>
            </a:r>
            <a:r>
              <a:rPr lang="ca-ES" sz="1600" b="1" dirty="0"/>
              <a:t> y </a:t>
            </a:r>
            <a:r>
              <a:rPr lang="ca-ES" sz="1600" b="1" dirty="0" err="1"/>
              <a:t>Sostenibilidad</a:t>
            </a:r>
            <a:endParaRPr lang="ca-ES" sz="1600" b="1" dirty="0"/>
          </a:p>
          <a:p>
            <a:r>
              <a:rPr lang="ca-ES" sz="1600" dirty="0" err="1"/>
              <a:t>Filosofía</a:t>
            </a:r>
            <a:r>
              <a:rPr lang="ca-ES" sz="1600" dirty="0"/>
              <a:t> 100% Open </a:t>
            </a:r>
            <a:r>
              <a:rPr lang="ca-ES" sz="1600" dirty="0" err="1"/>
              <a:t>Source</a:t>
            </a:r>
            <a:r>
              <a:rPr lang="ca-ES" sz="1600" dirty="0"/>
              <a:t> y </a:t>
            </a:r>
            <a:r>
              <a:rPr lang="ca-ES" sz="1600" dirty="0" err="1"/>
              <a:t>replicabilidad</a:t>
            </a:r>
            <a:r>
              <a:rPr lang="ca-ES" sz="1600" dirty="0"/>
              <a:t> científica.</a:t>
            </a:r>
          </a:p>
          <a:p>
            <a:r>
              <a:rPr lang="ca-ES" sz="1600" dirty="0" err="1"/>
              <a:t>Alineación</a:t>
            </a:r>
            <a:r>
              <a:rPr lang="ca-ES" sz="1600" dirty="0"/>
              <a:t> directa con Agenda 2030 (ODS: Industria, </a:t>
            </a:r>
            <a:r>
              <a:rPr lang="ca-ES" sz="1600" dirty="0" err="1"/>
              <a:t>Innovación</a:t>
            </a:r>
            <a:r>
              <a:rPr lang="ca-ES" sz="1600" dirty="0"/>
              <a:t> y </a:t>
            </a:r>
            <a:r>
              <a:rPr lang="ca-ES" sz="1600" dirty="0" err="1"/>
              <a:t>Acción</a:t>
            </a:r>
            <a:r>
              <a:rPr lang="ca-ES" sz="1600" dirty="0"/>
              <a:t> por el Clima).</a:t>
            </a:r>
          </a:p>
          <a:p>
            <a:r>
              <a:rPr lang="ca-ES" sz="1600" dirty="0" err="1"/>
              <a:t>Códigos</a:t>
            </a:r>
            <a:r>
              <a:rPr lang="ca-ES" sz="1600" dirty="0"/>
              <a:t> UNESCO (</a:t>
            </a:r>
            <a:r>
              <a:rPr lang="ca-ES" sz="1600" dirty="0" err="1"/>
              <a:t>Aprendizaje</a:t>
            </a:r>
            <a:r>
              <a:rPr lang="ca-ES" sz="1600" dirty="0"/>
              <a:t> </a:t>
            </a:r>
            <a:r>
              <a:rPr lang="ca-ES" sz="1600" dirty="0" err="1"/>
              <a:t>Automático</a:t>
            </a:r>
            <a:r>
              <a:rPr lang="ca-ES" sz="1600" dirty="0"/>
              <a:t> y </a:t>
            </a:r>
            <a:r>
              <a:rPr lang="ca-ES" sz="1600" dirty="0" err="1"/>
              <a:t>Cloud</a:t>
            </a:r>
            <a:r>
              <a:rPr lang="ca-ES" sz="1600" dirty="0"/>
              <a:t> Computing).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51B0EB0-3BB9-A194-C152-14303C328302}"/>
              </a:ext>
            </a:extLst>
          </p:cNvPr>
          <p:cNvSpPr txBox="1"/>
          <p:nvPr/>
        </p:nvSpPr>
        <p:spPr>
          <a:xfrm>
            <a:off x="2830068" y="5670201"/>
            <a:ext cx="634136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a-ES" sz="1600" b="1" dirty="0" err="1"/>
              <a:t>Conclusión</a:t>
            </a:r>
            <a:endParaRPr lang="ca-ES" sz="1600" b="1" dirty="0"/>
          </a:p>
          <a:p>
            <a:r>
              <a:rPr lang="ca-ES" sz="1600" dirty="0"/>
              <a:t>El </a:t>
            </a:r>
            <a:r>
              <a:rPr lang="ca-ES" sz="1600" dirty="0" err="1"/>
              <a:t>pipeline</a:t>
            </a:r>
            <a:r>
              <a:rPr lang="ca-ES" sz="1600" dirty="0"/>
              <a:t> base del </a:t>
            </a:r>
            <a:r>
              <a:rPr lang="ca-ES" sz="1600" dirty="0" err="1"/>
              <a:t>proyecto</a:t>
            </a:r>
            <a:r>
              <a:rPr lang="ca-ES" sz="1600" dirty="0"/>
              <a:t> es </a:t>
            </a:r>
            <a:r>
              <a:rPr lang="ca-ES" sz="1600" dirty="0" err="1"/>
              <a:t>replicable</a:t>
            </a:r>
            <a:r>
              <a:rPr lang="ca-ES" sz="1600" dirty="0"/>
              <a:t> y </a:t>
            </a:r>
            <a:r>
              <a:rPr lang="ca-ES" sz="1600" u="sng" dirty="0" err="1"/>
              <a:t>utilizable</a:t>
            </a:r>
            <a:r>
              <a:rPr lang="ca-ES" sz="1600" dirty="0"/>
              <a:t> en </a:t>
            </a:r>
            <a:r>
              <a:rPr lang="ca-ES" sz="1600" dirty="0" err="1"/>
              <a:t>otros</a:t>
            </a:r>
            <a:r>
              <a:rPr lang="ca-ES" sz="1600" dirty="0"/>
              <a:t> </a:t>
            </a:r>
            <a:r>
              <a:rPr lang="ca-ES" sz="1600" dirty="0" err="1"/>
              <a:t>proyectos</a:t>
            </a:r>
            <a:r>
              <a:rPr lang="ca-ES" sz="1600" dirty="0"/>
              <a:t>.</a:t>
            </a:r>
          </a:p>
          <a:p>
            <a:r>
              <a:rPr lang="ca-ES" sz="1600" dirty="0"/>
              <a:t>Lo </a:t>
            </a:r>
            <a:r>
              <a:rPr lang="ca-ES" sz="1600" dirty="0" err="1"/>
              <a:t>estoy</a:t>
            </a:r>
            <a:r>
              <a:rPr lang="ca-ES" sz="1600" dirty="0"/>
              <a:t> </a:t>
            </a:r>
            <a:r>
              <a:rPr lang="ca-ES" sz="1600" dirty="0" err="1"/>
              <a:t>aplicando</a:t>
            </a:r>
            <a:r>
              <a:rPr lang="ca-ES" sz="1600" dirty="0"/>
              <a:t> en el </a:t>
            </a:r>
            <a:r>
              <a:rPr lang="ca-ES" sz="1600" dirty="0" err="1"/>
              <a:t>satelite</a:t>
            </a:r>
            <a:r>
              <a:rPr lang="ca-ES" sz="1600" dirty="0"/>
              <a:t> MENUT de la agencia espacial Catalana.</a:t>
            </a:r>
          </a:p>
          <a:p>
            <a:r>
              <a:rPr lang="ca-ES" sz="1600" dirty="0"/>
              <a:t>Open Cosmos.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1E4694-A4BF-D5BB-B842-2ED25AD3822A}"/>
              </a:ext>
            </a:extLst>
          </p:cNvPr>
          <p:cNvSpPr txBox="1"/>
          <p:nvPr/>
        </p:nvSpPr>
        <p:spPr>
          <a:xfrm>
            <a:off x="2830068" y="935884"/>
            <a:ext cx="61024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CONCLUSIONES.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D42624D-9805-8CC8-8014-BB92AA6907D0}"/>
              </a:ext>
            </a:extLst>
          </p:cNvPr>
          <p:cNvSpPr txBox="1"/>
          <p:nvPr/>
        </p:nvSpPr>
        <p:spPr>
          <a:xfrm>
            <a:off x="11736324" y="6457890"/>
            <a:ext cx="2788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000" dirty="0">
                <a:solidFill>
                  <a:schemeClr val="accent1">
                    <a:lumMod val="75000"/>
                  </a:schemeClr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990374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2354</TotalTime>
  <Words>437</Words>
  <Application>Microsoft Office PowerPoint</Application>
  <PresentationFormat>Panorámica</PresentationFormat>
  <Paragraphs>65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GT America</vt:lpstr>
      <vt:lpstr>GT America Black</vt:lpstr>
      <vt:lpstr>GT America Medium</vt:lpstr>
      <vt:lpstr>GT America Ultra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Lopez, Antonio</cp:lastModifiedBy>
  <cp:revision>60</cp:revision>
  <dcterms:created xsi:type="dcterms:W3CDTF">2020-06-03T08:24:21Z</dcterms:created>
  <dcterms:modified xsi:type="dcterms:W3CDTF">2026-10-09T12:41:42Z</dcterms:modified>
</cp:coreProperties>
</file>